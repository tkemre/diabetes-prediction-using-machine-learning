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84"/>
  </p:normalViewPr>
  <p:slideViewPr>
    <p:cSldViewPr snapToGrid="0" snapToObjects="1">
      <p:cViewPr varScale="1">
        <p:scale>
          <a:sx n="93" d="100"/>
          <a:sy n="93" d="100"/>
        </p:scale>
        <p:origin x="216" y="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0F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9445752" cy="4754880"/>
          </a:xfrm>
          <a:prstGeom prst="rect">
            <a:avLst/>
          </a:prstGeom>
          <a:solidFill>
            <a:srgbClr val="1E4580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9445752" cy="10972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143000"/>
            <a:ext cx="9079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DD8E6"/>
                </a:solidFill>
              </a:rPr>
              <a:t>SENG 352 —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9079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Diabetes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9079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ADD8E6"/>
                </a:solidFill>
              </a:rPr>
              <a:t>Using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200400"/>
            <a:ext cx="578815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337560"/>
            <a:ext cx="9079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Emre Tek  &amp;  Betül Özdemir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9079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DD8E6"/>
                </a:solidFill>
              </a:rPr>
              <a:t>Pima Indians Diabetes Database  |  April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D8E6"/>
                </a:solidFill>
              </a:rPr>
              <a:t>Why does early diabetes detection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Emre Tek &amp; Betül Özdemir  |  SENG 352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5394960" cy="4846320"/>
          </a:xfrm>
          <a:prstGeom prst="rect">
            <a:avLst/>
          </a:prstGeom>
          <a:solidFill>
            <a:srgbClr val="E8F1FB"/>
          </a:solidFill>
          <a:ln w="9525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Diabetes affects 537 million adults worldwide (IDF 2021)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Type 2 diabetes is largely preventable with early intervention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Manual diagnosis is slow, costly, and error-prone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Clinical data often contains noise &amp; missing values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Class imbalance makes ML classification harder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669280" cy="4846320"/>
          </a:xfrm>
          <a:prstGeom prst="rect">
            <a:avLst/>
          </a:prstGeom>
          <a:solidFill>
            <a:srgbClr val="E8F8EE"/>
          </a:solidFill>
          <a:ln w="9525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Our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Build a complete ML pipeline from raw data to predictions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Handle missing values and class imbalance correctly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Compare 7 classifiers: LR, DT, RF, XGB, SVM, Naive Bayes, KNN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Optimise hyperparameters with RandomizedSearchCV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Explain model decisions with SHAP values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333333"/>
                </a:solidFill>
              </a:rPr>
              <a:t>▸  Primary metric: F1-Score (balances precision &amp; recall)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D8E6"/>
                </a:solidFill>
              </a:rPr>
              <a:t>Pima Indians Diabetes Database — UCI /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Emre Tek &amp; Betül Özdemir  |  SENG 352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286000" cy="1280160"/>
          </a:xfrm>
          <a:prstGeom prst="rect">
            <a:avLst/>
          </a:prstGeom>
          <a:solidFill>
            <a:srgbClr val="E8F1FB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6FBF"/>
                </a:solidFill>
              </a:rPr>
              <a:t>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6C"/>
                </a:solidFill>
              </a:rPr>
              <a:t>768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6FBF"/>
                </a:solidFill>
              </a:rPr>
              <a:t>patients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63040"/>
            <a:ext cx="2286000" cy="1280160"/>
          </a:xfrm>
          <a:prstGeom prst="rect">
            <a:avLst/>
          </a:prstGeom>
          <a:solidFill>
            <a:srgbClr val="E8F1FB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536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6FBF"/>
                </a:solidFill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6C"/>
                </a:solidFill>
              </a:rPr>
              <a:t>8+1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6FBF"/>
                </a:solidFill>
              </a:rPr>
              <a:t>original + 1 engineered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286000" cy="1280160"/>
          </a:xfrm>
          <a:prstGeom prst="rect">
            <a:avLst/>
          </a:prstGeom>
          <a:solidFill>
            <a:srgbClr val="E8F1FB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1536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6FBF"/>
                </a:solidFill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6C"/>
                </a:solidFill>
              </a:rPr>
              <a:t>Binary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6FBF"/>
                </a:solidFill>
              </a:rPr>
              <a:t>0 = No  /  1 = 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463040"/>
            <a:ext cx="2286000" cy="1280160"/>
          </a:xfrm>
          <a:prstGeom prst="rect">
            <a:avLst/>
          </a:prstGeom>
          <a:solidFill>
            <a:srgbClr val="E8F1FB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1536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6FBF"/>
                </a:solidFill>
              </a:rP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76C"/>
                </a:solidFill>
              </a:rPr>
              <a:t>UCI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6FBF"/>
                </a:solidFill>
              </a:rPr>
              <a:t>Machine Learning
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80360"/>
            <a:ext cx="1965960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" y="2916936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880360"/>
            <a:ext cx="960120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5727" y="2916936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880360"/>
            <a:ext cx="1325880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47288" y="291693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Allowed Zero?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880360"/>
            <a:ext cx="4069080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64608" y="2916936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27832"/>
            <a:ext cx="196596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" y="3264408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Pregnancies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31720" y="3227832"/>
            <a:ext cx="96012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95727" y="3264408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3227832"/>
            <a:ext cx="13258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47288" y="3264408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3227832"/>
            <a:ext cx="40690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64608" y="3264408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Number of times pregnant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575304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8328" y="3611880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Glucose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31720" y="3575304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95727" y="3611880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3575304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47288" y="3611880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3575304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64608" y="3611880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Plasma glucose (2h oral test)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922776"/>
            <a:ext cx="196596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8328" y="3959352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BloodPressure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3922776"/>
            <a:ext cx="96012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95727" y="3959352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3922776"/>
            <a:ext cx="13258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447288" y="3959352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3922776"/>
            <a:ext cx="40690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64608" y="3959352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Diastolic blood pressure (mmHg)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270248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38328" y="4306824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SkinThickness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31720" y="4270248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395727" y="4306824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4270248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447288" y="4306824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0600" y="4270248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64608" y="4306824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Triceps skin fold thickness (mm)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617720"/>
            <a:ext cx="196596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8328" y="4654296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Insulin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31720" y="4617720"/>
            <a:ext cx="96012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395727" y="4654296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83280" y="4617720"/>
            <a:ext cx="13258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447288" y="465429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4617720"/>
            <a:ext cx="40690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64608" y="4654296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2-Hour serum insulin (µU/mL)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965192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38328" y="5001768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BMI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31720" y="4965192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95727" y="5001768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Float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83280" y="4965192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447288" y="5001768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0600" y="4965192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64608" y="5001768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Body mass index (kg/m²)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312664"/>
            <a:ext cx="196596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8328" y="5349240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DiabetesPedigreeFunction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31720" y="5312664"/>
            <a:ext cx="96012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395727" y="5349240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Float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83280" y="5312664"/>
            <a:ext cx="13258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447288" y="5349240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00600" y="5312664"/>
            <a:ext cx="4069080" cy="347472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864608" y="5349240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Genetic diabetes risk score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660136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38328" y="5696712"/>
            <a:ext cx="1874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Age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31720" y="5660136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395727" y="5696712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Integer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83280" y="5660136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47288" y="5696712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Yes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00600" y="5660136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864608" y="5696712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Age in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Quality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D8E6"/>
                </a:solidFill>
              </a:rPr>
              <a:t>Zero-as-missing detection · Imputation · IQR Outlier Capping · Class imbalance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Emre Tek &amp; Betül Özdemir  |  SENG 352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Zero-as-Missing Values (biologically impossible)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2240280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" y="1911095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874519"/>
            <a:ext cx="1234439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91109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Missing 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874519"/>
            <a:ext cx="1234439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95928" y="191109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Missing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874519"/>
            <a:ext cx="1234439" cy="3474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191109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21991"/>
            <a:ext cx="2240280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" y="225856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Insulin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221991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70048" y="22585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374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221991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95928" y="22585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48.7%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221991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21808" y="22585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69463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" y="2606039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SkinThickness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2569463"/>
            <a:ext cx="123443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70048" y="260603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227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2569463"/>
            <a:ext cx="123443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95928" y="260603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29.6%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2569463"/>
            <a:ext cx="123443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21808" y="2606039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16936"/>
            <a:ext cx="2240280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8328" y="295351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BloodPressure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2916936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70048" y="29535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2916936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95928" y="29535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4.6%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2916936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21808" y="29535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264408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8328" y="330098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BMI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3264408"/>
            <a:ext cx="123443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70048" y="3300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3264408"/>
            <a:ext cx="123443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95928" y="3300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1.4%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3264408"/>
            <a:ext cx="123443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21808" y="3300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611879"/>
            <a:ext cx="2240280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8328" y="36484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Glucose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3611879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70048" y="36484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3611879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95928" y="36484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0.7%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3611879"/>
            <a:ext cx="1234439" cy="329184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21808" y="36484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971063"/>
            <a:ext cx="6309360" cy="1005840"/>
          </a:xfrm>
          <a:prstGeom prst="rect">
            <a:avLst/>
          </a:prstGeom>
          <a:solidFill>
            <a:srgbClr val="E8F8EE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40167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Fix Applied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26589"/>
            <a:ext cx="59436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Replace 0 → </a:t>
            </a:r>
            <a:r>
              <a:rPr sz="1300" dirty="0" err="1"/>
              <a:t>NaN</a:t>
            </a:r>
            <a:r>
              <a:rPr sz="1300" dirty="0"/>
              <a:t>, then fill with class-stratified median</a:t>
            </a:r>
          </a:p>
          <a:p>
            <a:r>
              <a:rPr sz="1300" dirty="0"/>
              <a:t>(separate medians for Outcome=0 and Outcome=1).</a:t>
            </a:r>
          </a:p>
          <a:p>
            <a:r>
              <a:rPr sz="1300" dirty="0"/>
              <a:t>IQR outlier capping (</a:t>
            </a:r>
            <a:r>
              <a:rPr sz="1300" dirty="0" err="1"/>
              <a:t>Winsorizing</a:t>
            </a:r>
            <a:r>
              <a:rPr sz="1300" dirty="0"/>
              <a:t>) applied after imputation.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Class Imbalance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1828800"/>
            <a:ext cx="5029200" cy="2286000"/>
          </a:xfrm>
          <a:prstGeom prst="rect">
            <a:avLst/>
          </a:prstGeom>
          <a:solidFill>
            <a:srgbClr val="E8F1FB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040880" y="2057400"/>
            <a:ext cx="411480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57033" y="217120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Non-Diabetic (0)  —  500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40880" y="2880360"/>
            <a:ext cx="2205532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91552" y="298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</a:rPr>
              <a:t>Diabetic (1)  —  268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76FBF"/>
                </a:solidFill>
              </a:rPr>
              <a:t>Imbalance ratio ≈ 1.87 : 1  →  SMOTE applied on training set only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7972" y="4946903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376C"/>
                </a:solidFill>
              </a:rPr>
              <a:t>Pipeline Steps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257800"/>
            <a:ext cx="182880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38328" y="5321808"/>
            <a:ext cx="17007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1. Zero → NaN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21408" y="557784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40279" y="5257800"/>
            <a:ext cx="1828800" cy="9144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304287" y="5321808"/>
            <a:ext cx="17007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FFFFFF"/>
                </a:solidFill>
              </a:rPr>
              <a:t>2. Class-stratified</a:t>
            </a:r>
          </a:p>
          <a:p>
            <a:r>
              <a:rPr sz="1100" b="0" dirty="0">
                <a:solidFill>
                  <a:srgbClr val="FFFFFF"/>
                </a:solidFill>
              </a:rPr>
              <a:t>Median Imputation</a:t>
            </a:r>
          </a:p>
          <a:p>
            <a:r>
              <a:rPr sz="1100" b="0" dirty="0">
                <a:solidFill>
                  <a:srgbClr val="FFFFFF"/>
                </a:solidFill>
              </a:rPr>
              <a:t>+ IQR Capping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7368" y="557784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257800"/>
            <a:ext cx="182880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70248" y="5321808"/>
            <a:ext cx="17007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3. BMI Category
(WHO thresholds)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53327" y="557784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199" y="5257800"/>
            <a:ext cx="1828800" cy="9144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36207" y="5321808"/>
            <a:ext cx="17007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4. 80/20 Stratified
Train-Test Split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19288" y="557784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38160" y="5257800"/>
            <a:ext cx="182880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02168" y="5321808"/>
            <a:ext cx="17007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5. SMOTE
(train only)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85248" y="557784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</a:rPr>
              <a:t>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04120" y="5257800"/>
            <a:ext cx="1828800" cy="9144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168128" y="5321808"/>
            <a:ext cx="17007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6. StandardScaler
(fit on train)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EDA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D8E6"/>
                </a:solidFill>
              </a:rPr>
              <a:t>Key patterns discovered before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Emre Tek &amp; Betül Özdemir  |  SENG 352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5029200"/>
          </a:xfrm>
          <a:prstGeom prst="rect">
            <a:avLst/>
          </a:prstGeom>
          <a:solidFill>
            <a:srgbClr val="E8F1FB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① Glucose — Top Predictor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057400"/>
            <a:ext cx="2011680" cy="594360"/>
          </a:xfrm>
          <a:prstGeom prst="rect">
            <a:avLst/>
          </a:prstGeom>
          <a:solidFill>
            <a:srgbClr val="F5F5F5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1945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B4C"/>
                </a:solidFill>
              </a:rPr>
              <a:t>No Diabetes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313432"/>
            <a:ext cx="1920240" cy="7315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0" y="2148840"/>
            <a:ext cx="45720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6791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8B4C"/>
                </a:solidFill>
              </a:rPr>
              <a:t>Median: 107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063240"/>
            <a:ext cx="2011680" cy="594360"/>
          </a:xfrm>
          <a:prstGeom prst="rect">
            <a:avLst/>
          </a:prstGeom>
          <a:solidFill>
            <a:srgbClr val="F5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Diabetic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319272"/>
            <a:ext cx="192024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0" y="3154680"/>
            <a:ext cx="4572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685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Median: 157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60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</a:rPr>
              <a:t>Diabetic patients show
clearly higher glucose.
Correlation with
Outcome: r=0.47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417320"/>
            <a:ext cx="3657600" cy="5029200"/>
          </a:xfrm>
          <a:prstGeom prst="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② Correlation with Outcome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011680"/>
            <a:ext cx="3008376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6216" y="20711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Glucose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057400"/>
            <a:ext cx="3008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514600"/>
            <a:ext cx="1856231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72783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560320"/>
            <a:ext cx="1856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017520"/>
            <a:ext cx="1536192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52744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06324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520440"/>
            <a:ext cx="1408176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24728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Pregnancies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566160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4023360"/>
            <a:ext cx="1088136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04688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DiabetesPedigreeFunction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069080"/>
            <a:ext cx="1088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4526280"/>
            <a:ext cx="832104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48656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Insulin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4572000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5029200"/>
            <a:ext cx="448056" cy="3474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64608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SkinThickness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074920"/>
            <a:ext cx="44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5532120"/>
            <a:ext cx="448056" cy="34747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64608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BloodPressure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577840"/>
            <a:ext cx="448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</a:rPr>
              <a:t>0.07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1417320"/>
            <a:ext cx="3749039" cy="5029200"/>
          </a:xfrm>
          <a:prstGeom prst="rect">
            <a:avLst/>
          </a:prstGeom>
          <a:solidFill>
            <a:srgbClr val="F0F0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2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③ Key Takeaways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201168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Glucose is the strongest single predictor (r=0.47)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BMI &amp; Age also strongly separate classes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Insulin has 49% missing — class-stratified imputation critical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Distributions are right-skewed → StandardScaler applied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Pairplot reveals clear Glucose×BMI cluster separation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No perfect linear separability → tree-based models expected to win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Train/test KDE comparison confirms no distribution shift after split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▸  t-SNE 2-D projection added — confirms non-linear class overlap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Modelling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D8E6"/>
                </a:solidFill>
              </a:rPr>
              <a:t>7 classifiers · Stratified 5-Fold CV · RandomizedSearchCV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Emre Tek &amp; Betül Özdemir  |  SENG 352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737360" cy="868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Raw Data
768×9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79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79" y="1417320"/>
            <a:ext cx="1737360" cy="8686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5999" y="14630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Missing
Imputation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17320"/>
            <a:ext cx="1737360" cy="8686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4630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SMOTE
Balancing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199" y="1417320"/>
            <a:ext cx="1737360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19" y="14630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Standard
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17320"/>
            <a:ext cx="1737360" cy="8686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0" y="14630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
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1417320"/>
            <a:ext cx="173736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14630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Evaluation
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468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A376C"/>
                </a:solidFill>
              </a:rPr>
              <a:t>Model Comparison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926080"/>
            <a:ext cx="22402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" y="295351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926080"/>
            <a:ext cx="17830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29535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2926080"/>
            <a:ext cx="40690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44568" y="29535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Hyperparameters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2926080"/>
            <a:ext cx="13258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05088" y="2882577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Scaling
Needed?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12680" y="2926080"/>
            <a:ext cx="1325880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76688" y="295351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Tuned?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291840"/>
            <a:ext cx="22402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328" y="33375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Logistic Regression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3291840"/>
            <a:ext cx="17830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0048" y="33375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Linear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3291840"/>
            <a:ext cx="40690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44568" y="333756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C=1, max_iter=1000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3291840"/>
            <a:ext cx="13258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05088" y="3337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Yes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2680" y="3291840"/>
            <a:ext cx="13258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76688" y="3337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65760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8328" y="3703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Decision Tree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365760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37033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Tree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3657600"/>
            <a:ext cx="4069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44568" y="370332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max_depth=5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41080" y="36576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05088" y="3703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12680" y="36576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76688" y="3703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23360"/>
            <a:ext cx="22402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38328" y="40690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Random Forest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4023360"/>
            <a:ext cx="17830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70048" y="40690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Ensemble (Bag.)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4023360"/>
            <a:ext cx="40690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44568" y="406908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n_estimators=200, max_depth=8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41080" y="4023360"/>
            <a:ext cx="13258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05088" y="40690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12680" y="4023360"/>
            <a:ext cx="1325880" cy="36576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76688" y="40690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Yes 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38912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38328" y="4434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XGBoost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40" y="438912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670048" y="44348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Ensemble (Boost)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4389120"/>
            <a:ext cx="4069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44568" y="443484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n_estimators=200, lr=0.05, depth=4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41080" y="438912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05088" y="4434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12680" y="438912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076688" y="4434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Yes 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300" b="1" i="0" dirty="0" err="1">
                <a:solidFill>
                  <a:srgbClr val="1A376C"/>
                </a:solidFill>
              </a:rPr>
              <a:t>Validation</a:t>
            </a:r>
            <a:r>
              <a:rPr lang="tr-TR" sz="1300" b="1" i="0" dirty="0">
                <a:solidFill>
                  <a:srgbClr val="1A376C"/>
                </a:solidFill>
              </a:rPr>
              <a:t> </a:t>
            </a:r>
            <a:r>
              <a:rPr lang="tr-TR" sz="1300" b="1" i="0" dirty="0" err="1">
                <a:solidFill>
                  <a:srgbClr val="1A376C"/>
                </a:solidFill>
              </a:rPr>
              <a:t>Strategy</a:t>
            </a:r>
            <a:endParaRPr lang="tr-TR" sz="1300" b="1" i="0" dirty="0">
              <a:solidFill>
                <a:srgbClr val="1A376C"/>
              </a:solidFill>
            </a:endParaRPr>
          </a:p>
        </p:txBody>
      </p:sp>
      <p:sp>
        <p:nvSpPr>
          <p:cNvPr id="80" name="Rect_SVM_274320"/>
          <p:cNvSpPr/>
          <p:nvPr/>
        </p:nvSpPr>
        <p:spPr>
          <a:xfrm>
            <a:off x="274320" y="475488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_SVM_2606040"/>
          <p:cNvSpPr/>
          <p:nvPr/>
        </p:nvSpPr>
        <p:spPr>
          <a:xfrm>
            <a:off x="2606040" y="475488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_SVM_4480560"/>
          <p:cNvSpPr/>
          <p:nvPr/>
        </p:nvSpPr>
        <p:spPr>
          <a:xfrm>
            <a:off x="4480560" y="4754880"/>
            <a:ext cx="4069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_SVM_8641080"/>
          <p:cNvSpPr/>
          <p:nvPr/>
        </p:nvSpPr>
        <p:spPr>
          <a:xfrm>
            <a:off x="8641080" y="475488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_SVM_10012680"/>
          <p:cNvSpPr/>
          <p:nvPr/>
        </p:nvSpPr>
        <p:spPr>
          <a:xfrm>
            <a:off x="10012680" y="475488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B_SVM_338328"/>
          <p:cNvSpPr txBox="1"/>
          <p:nvPr/>
        </p:nvSpPr>
        <p:spPr>
          <a:xfrm>
            <a:off x="338328" y="4800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SVM</a:t>
            </a:r>
          </a:p>
        </p:txBody>
      </p:sp>
      <p:sp>
        <p:nvSpPr>
          <p:cNvPr id="86" name="TB_SVM_2670048"/>
          <p:cNvSpPr txBox="1"/>
          <p:nvPr/>
        </p:nvSpPr>
        <p:spPr>
          <a:xfrm>
            <a:off x="2670048" y="4800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Kernel (RBF)</a:t>
            </a:r>
          </a:p>
        </p:txBody>
      </p:sp>
      <p:sp>
        <p:nvSpPr>
          <p:cNvPr id="87" name="TB_SVM_4544568"/>
          <p:cNvSpPr txBox="1"/>
          <p:nvPr/>
        </p:nvSpPr>
        <p:spPr>
          <a:xfrm>
            <a:off x="4544568" y="4800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kernel=rbf, C=1.0, probability=True</a:t>
            </a:r>
          </a:p>
        </p:txBody>
      </p:sp>
      <p:sp>
        <p:nvSpPr>
          <p:cNvPr id="88" name="TB_SVM_8705088"/>
          <p:cNvSpPr txBox="1"/>
          <p:nvPr/>
        </p:nvSpPr>
        <p:spPr>
          <a:xfrm>
            <a:off x="8705088" y="4800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Yes ✓</a:t>
            </a:r>
          </a:p>
        </p:txBody>
      </p:sp>
      <p:sp>
        <p:nvSpPr>
          <p:cNvPr id="89" name="TB_SVM_10076688"/>
          <p:cNvSpPr txBox="1"/>
          <p:nvPr/>
        </p:nvSpPr>
        <p:spPr>
          <a:xfrm>
            <a:off x="10076688" y="4800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No</a:t>
            </a:r>
          </a:p>
        </p:txBody>
      </p:sp>
      <p:sp>
        <p:nvSpPr>
          <p:cNvPr id="90" name="Rect_SVM_274320"/>
          <p:cNvSpPr/>
          <p:nvPr/>
        </p:nvSpPr>
        <p:spPr>
          <a:xfrm>
            <a:off x="274320" y="512064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1" name="Rect_SVM_2606040"/>
          <p:cNvSpPr/>
          <p:nvPr/>
        </p:nvSpPr>
        <p:spPr>
          <a:xfrm>
            <a:off x="2606040" y="512064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_SVM_4480560"/>
          <p:cNvSpPr/>
          <p:nvPr/>
        </p:nvSpPr>
        <p:spPr>
          <a:xfrm>
            <a:off x="4480560" y="5120640"/>
            <a:ext cx="4069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_SVM_8641080"/>
          <p:cNvSpPr/>
          <p:nvPr/>
        </p:nvSpPr>
        <p:spPr>
          <a:xfrm>
            <a:off x="8641080" y="51206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_SVM_10012680"/>
          <p:cNvSpPr/>
          <p:nvPr/>
        </p:nvSpPr>
        <p:spPr>
          <a:xfrm>
            <a:off x="10012680" y="51206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B_SVM_338328"/>
          <p:cNvSpPr txBox="1"/>
          <p:nvPr/>
        </p:nvSpPr>
        <p:spPr>
          <a:xfrm>
            <a:off x="338328" y="51663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Naive Bayes</a:t>
            </a:r>
          </a:p>
        </p:txBody>
      </p:sp>
      <p:sp>
        <p:nvSpPr>
          <p:cNvPr id="96" name="TB_SVM_2670048"/>
          <p:cNvSpPr txBox="1"/>
          <p:nvPr/>
        </p:nvSpPr>
        <p:spPr>
          <a:xfrm>
            <a:off x="2670048" y="51663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Probabilistic</a:t>
            </a:r>
          </a:p>
        </p:txBody>
      </p:sp>
      <p:sp>
        <p:nvSpPr>
          <p:cNvPr id="97" name="TB_SVM_4544568"/>
          <p:cNvSpPr txBox="1"/>
          <p:nvPr/>
        </p:nvSpPr>
        <p:spPr>
          <a:xfrm>
            <a:off x="4544568" y="516636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var_smoothing=1e-9 (default)</a:t>
            </a:r>
          </a:p>
        </p:txBody>
      </p:sp>
      <p:sp>
        <p:nvSpPr>
          <p:cNvPr id="98" name="TB_SVM_8705088"/>
          <p:cNvSpPr txBox="1"/>
          <p:nvPr/>
        </p:nvSpPr>
        <p:spPr>
          <a:xfrm>
            <a:off x="8705088" y="51663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No</a:t>
            </a:r>
          </a:p>
        </p:txBody>
      </p:sp>
      <p:sp>
        <p:nvSpPr>
          <p:cNvPr id="99" name="TB_SVM_10076688"/>
          <p:cNvSpPr txBox="1"/>
          <p:nvPr/>
        </p:nvSpPr>
        <p:spPr>
          <a:xfrm>
            <a:off x="10076688" y="51663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No</a:t>
            </a:r>
          </a:p>
        </p:txBody>
      </p:sp>
      <p:sp>
        <p:nvSpPr>
          <p:cNvPr id="100" name="Rect_SVM_274320"/>
          <p:cNvSpPr/>
          <p:nvPr/>
        </p:nvSpPr>
        <p:spPr>
          <a:xfrm>
            <a:off x="274320" y="5486400"/>
            <a:ext cx="2240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_SVM_2606040"/>
          <p:cNvSpPr/>
          <p:nvPr/>
        </p:nvSpPr>
        <p:spPr>
          <a:xfrm>
            <a:off x="2606040" y="548640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_SVM_4480560"/>
          <p:cNvSpPr/>
          <p:nvPr/>
        </p:nvSpPr>
        <p:spPr>
          <a:xfrm>
            <a:off x="4480560" y="5486400"/>
            <a:ext cx="4069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_SVM_8641080"/>
          <p:cNvSpPr/>
          <p:nvPr/>
        </p:nvSpPr>
        <p:spPr>
          <a:xfrm>
            <a:off x="8641080" y="54864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_SVM_10012680"/>
          <p:cNvSpPr/>
          <p:nvPr/>
        </p:nvSpPr>
        <p:spPr>
          <a:xfrm>
            <a:off x="10012680" y="54864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B_SVM_338328"/>
          <p:cNvSpPr txBox="1"/>
          <p:nvPr/>
        </p:nvSpPr>
        <p:spPr>
          <a:xfrm>
            <a:off x="338328" y="5532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KNN</a:t>
            </a:r>
          </a:p>
        </p:txBody>
      </p:sp>
      <p:sp>
        <p:nvSpPr>
          <p:cNvPr id="106" name="TB_SVM_2670048"/>
          <p:cNvSpPr txBox="1"/>
          <p:nvPr/>
        </p:nvSpPr>
        <p:spPr>
          <a:xfrm>
            <a:off x="2670048" y="5532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Distance-based</a:t>
            </a:r>
          </a:p>
        </p:txBody>
      </p:sp>
      <p:sp>
        <p:nvSpPr>
          <p:cNvPr id="107" name="TB_SVM_4544568"/>
          <p:cNvSpPr txBox="1"/>
          <p:nvPr/>
        </p:nvSpPr>
        <p:spPr>
          <a:xfrm>
            <a:off x="4544568" y="553212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n_neighbors=7, minkowski</a:t>
            </a:r>
          </a:p>
        </p:txBody>
      </p:sp>
      <p:sp>
        <p:nvSpPr>
          <p:cNvPr id="108" name="TB_SVM_8705088"/>
          <p:cNvSpPr txBox="1"/>
          <p:nvPr/>
        </p:nvSpPr>
        <p:spPr>
          <a:xfrm>
            <a:off x="8705088" y="5532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Yes ✓</a:t>
            </a:r>
          </a:p>
        </p:txBody>
      </p:sp>
      <p:sp>
        <p:nvSpPr>
          <p:cNvPr id="109" name="TB_SVM_10076688"/>
          <p:cNvSpPr txBox="1"/>
          <p:nvPr/>
        </p:nvSpPr>
        <p:spPr>
          <a:xfrm>
            <a:off x="10076688" y="5532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D8E6"/>
                </a:solidFill>
              </a:rPr>
              <a:t>Hold-out test set (20%) · Primary metric: F1-Score · 7-model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Emre Tek &amp; Betül Özdemir  |  SENG 352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Model Performance — Hold-out Test Set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934519"/>
            <a:ext cx="11643360" cy="1520000"/>
          </a:xfrm>
          <a:prstGeom prst="rect">
            <a:avLst/>
          </a:prstGeom>
          <a:solidFill>
            <a:srgbClr val="E8F8EE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1" name="TextBox 70"/>
          <p:cNvSpPr txBox="1"/>
          <p:nvPr/>
        </p:nvSpPr>
        <p:spPr>
          <a:xfrm>
            <a:off x="338328" y="49745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8B4C"/>
                </a:solidFill>
              </a:rPr>
              <a:t>Key Findings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4429" y="5286521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▸  </a:t>
            </a:r>
            <a:r>
              <a:rPr sz="1300" dirty="0" err="1"/>
              <a:t>XGBoost</a:t>
            </a:r>
            <a:r>
              <a:rPr sz="1300" dirty="0"/>
              <a:t> (baseline) &amp; RF (tuned) achieve best F1=0.8288 — tied at top of 7 classifiers</a:t>
            </a:r>
          </a:p>
          <a:p>
            <a:r>
              <a:rPr sz="1300" dirty="0"/>
              <a:t>▸  RF (baseline) leads ROC-AUC=0.9509 — strongest probability ranking</a:t>
            </a:r>
          </a:p>
          <a:p>
            <a:r>
              <a:rPr sz="1300" dirty="0"/>
              <a:t>▸  Tree-based models outperform linear &amp; distance-based classifiers for this non-linear dataset</a:t>
            </a:r>
          </a:p>
          <a:p>
            <a:r>
              <a:rPr sz="1300" dirty="0"/>
              <a:t>▸  Full robustness &amp; explainability analysis → see next slide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1874519"/>
            <a:ext cx="2606040" cy="420000"/>
          </a:xfrm>
          <a:prstGeom prst="rect">
            <a:avLst/>
          </a:prstGeom>
          <a:solidFill>
            <a:srgbClr val="1A376C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80360" y="1874519"/>
            <a:ext cx="1600200" cy="420000"/>
          </a:xfrm>
          <a:prstGeom prst="rect">
            <a:avLst/>
          </a:prstGeom>
          <a:solidFill>
            <a:srgbClr val="1A376C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F1-Score ↑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80560" y="1874519"/>
            <a:ext cx="1600200" cy="420000"/>
          </a:xfrm>
          <a:prstGeom prst="rect">
            <a:avLst/>
          </a:prstGeom>
          <a:solidFill>
            <a:srgbClr val="1A376C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ROC-AUC 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0760" y="1874519"/>
            <a:ext cx="1600200" cy="420000"/>
          </a:xfrm>
          <a:prstGeom prst="rect">
            <a:avLst/>
          </a:prstGeom>
          <a:solidFill>
            <a:srgbClr val="1A376C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Accuracy 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680960" y="1874519"/>
            <a:ext cx="1417320" cy="420000"/>
          </a:xfrm>
          <a:prstGeom prst="rect">
            <a:avLst/>
          </a:prstGeom>
          <a:solidFill>
            <a:srgbClr val="1A376C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Recall ↑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98280" y="1874519"/>
            <a:ext cx="2816225" cy="420000"/>
          </a:xfrm>
          <a:prstGeom prst="rect">
            <a:avLst/>
          </a:prstGeom>
          <a:solidFill>
            <a:srgbClr val="1A376C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2294519"/>
            <a:ext cx="260604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0">
                <a:solidFill>
                  <a:srgbClr val="333333"/>
                </a:solidFill>
              </a:rPr>
              <a:t>Logistic Regression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229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0.7360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80560" y="229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0.8506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60" y="229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0.7857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80960" y="2294519"/>
            <a:ext cx="141732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0.8519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98280" y="2294519"/>
            <a:ext cx="2816225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Baseline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2664519"/>
            <a:ext cx="260604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0">
                <a:solidFill>
                  <a:srgbClr val="333333"/>
                </a:solidFill>
              </a:rPr>
              <a:t>Decision Tree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80360" y="2664519"/>
            <a:ext cx="160020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0.8276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80560" y="2664519"/>
            <a:ext cx="160020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0.9129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80760" y="2664519"/>
            <a:ext cx="160020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0.8701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0960" y="2664519"/>
            <a:ext cx="141732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0.8889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98280" y="2664519"/>
            <a:ext cx="2816225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Good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034519"/>
            <a:ext cx="260604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0">
                <a:solidFill>
                  <a:srgbClr val="333333"/>
                </a:solidFill>
              </a:rPr>
              <a:t>Random Forest (baseline)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80360" y="303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0.8070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80560" y="303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0.9509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80760" y="303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0.8571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80960" y="3034519"/>
            <a:ext cx="141732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0.8519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98280" y="3034519"/>
            <a:ext cx="2816225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E8B4C"/>
                </a:solidFill>
              </a:rPr>
              <a:t>★ Best (ROC-AUC)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3404519"/>
            <a:ext cx="2606040" cy="370000"/>
          </a:xfrm>
          <a:prstGeom prst="rect">
            <a:avLst/>
          </a:prstGeom>
          <a:solidFill>
            <a:srgbClr val="E8F8ED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0">
                <a:solidFill>
                  <a:srgbClr val="333333"/>
                </a:solidFill>
              </a:rPr>
              <a:t>XGBoost (baseline)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880360" y="3404519"/>
            <a:ext cx="1600200" cy="370000"/>
          </a:xfrm>
          <a:prstGeom prst="rect">
            <a:avLst/>
          </a:prstGeom>
          <a:solidFill>
            <a:srgbClr val="E8F8ED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0.8288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480560" y="3404519"/>
            <a:ext cx="1600200" cy="370000"/>
          </a:xfrm>
          <a:prstGeom prst="rect">
            <a:avLst/>
          </a:prstGeom>
          <a:solidFill>
            <a:srgbClr val="E8F8ED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0.9474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80760" y="3404519"/>
            <a:ext cx="1600200" cy="370000"/>
          </a:xfrm>
          <a:prstGeom prst="rect">
            <a:avLst/>
          </a:prstGeom>
          <a:solidFill>
            <a:srgbClr val="E8F8ED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0.8766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680960" y="3404519"/>
            <a:ext cx="1417320" cy="370000"/>
          </a:xfrm>
          <a:prstGeom prst="rect">
            <a:avLst/>
          </a:prstGeom>
          <a:solidFill>
            <a:srgbClr val="E8F8ED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0.8519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98280" y="3404519"/>
            <a:ext cx="2816225" cy="370000"/>
          </a:xfrm>
          <a:prstGeom prst="rect">
            <a:avLst/>
          </a:prstGeom>
          <a:solidFill>
            <a:srgbClr val="E8F8ED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1E8B4C"/>
                </a:solidFill>
              </a:rPr>
              <a:t>★ Best (F1-Score)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3774519"/>
            <a:ext cx="260604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0">
                <a:solidFill>
                  <a:srgbClr val="333333"/>
                </a:solidFill>
              </a:rPr>
              <a:t>SVM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80360" y="377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0.7863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80560" y="377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0.9117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80760" y="377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0.8377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680960" y="3774519"/>
            <a:ext cx="141732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0.8519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98280" y="3774519"/>
            <a:ext cx="2816225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Good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4144519"/>
            <a:ext cx="260604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0">
                <a:solidFill>
                  <a:srgbClr val="333333"/>
                </a:solidFill>
              </a:rPr>
              <a:t>Naive Bayes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880360" y="4144519"/>
            <a:ext cx="160020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0.7031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480560" y="4144519"/>
            <a:ext cx="160020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0.8470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80760" y="4144519"/>
            <a:ext cx="160020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0.7532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80960" y="4144519"/>
            <a:ext cx="1417320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0.8333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98280" y="4144519"/>
            <a:ext cx="2816225" cy="3700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Moderate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4514519"/>
            <a:ext cx="260604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0">
                <a:solidFill>
                  <a:srgbClr val="333333"/>
                </a:solidFill>
              </a:rPr>
              <a:t>KNN (k=7)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80360" y="451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0.7302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480560" y="451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0.8831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080760" y="4514519"/>
            <a:ext cx="160020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0.7792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80960" y="4514519"/>
            <a:ext cx="1417320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0.8519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98280" y="4514519"/>
            <a:ext cx="2816225" cy="370000"/>
          </a:xfrm>
          <a:prstGeom prst="rect">
            <a:avLst/>
          </a:prstGeom>
          <a:solidFill>
            <a:srgbClr val="D6EA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333333"/>
                </a:solidFill>
              </a:rPr>
              <a:t>Moderate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9908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920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Explainability &amp;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C8D2E1"/>
                </a:solidFill>
              </a:rPr>
              <a:t>SHAP · LIME · Permutation Imp. · Counterfactual (DiCE) · Seed · McNemar · 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7093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Emre Tek &amp; Betül Özdemir  |  SENG 352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00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① SHAP — Global Feature Importance (XGBoost)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65760"/>
            <a:ext cx="5394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8D2E1"/>
                </a:solidFill>
              </a:rPr>
              <a:t>• Glucose  — highest mean |SHAP| → strongest diabetes driver</a:t>
            </a:r>
          </a:p>
          <a:p>
            <a:pPr algn="l"/>
            <a:r>
              <a:rPr sz="1200">
                <a:solidFill>
                  <a:srgbClr val="C8D2E1"/>
                </a:solidFill>
              </a:rPr>
              <a:t>• BMI &amp; Age — significant positive push toward Outcome=1</a:t>
            </a:r>
          </a:p>
          <a:p>
            <a:pPr algn="l"/>
            <a:r>
              <a:rPr sz="1200">
                <a:solidFill>
                  <a:srgbClr val="C8D2E1"/>
                </a:solidFill>
              </a:rPr>
              <a:t>• BMI_Cat confirms WHO obesity threshold is clinically relevant</a:t>
            </a:r>
          </a:p>
          <a:p>
            <a:pPr algn="l"/>
            <a:r>
              <a:rPr sz="1200">
                <a:solidFill>
                  <a:srgbClr val="C8D2E1"/>
                </a:solidFill>
              </a:rPr>
              <a:t>• BloodPressure — lowest importance; consistent with prior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017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② LIME — Local Explanations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263" y="3164730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C8D2E1"/>
                </a:solidFill>
              </a:rPr>
              <a:t>• True Positive: high Glucose + high BMI push strongly → Diabetes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False Negative: borderline Glucose + low Age mislead model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Local weights align with SHAP global ranking → model is coherent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22181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③ Seed Sensitivity (5 seeds: 42, 0, 123, 7,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55575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C8D2E1"/>
                </a:solidFill>
              </a:rPr>
              <a:t>• F1  mean ≈ 0.835   std &lt; 0.020  → stable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AUC mean ≈ 0.950   std &lt; 0.015  → stable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Results are not artifacts of seed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4401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④ McNemar's Test (</a:t>
            </a:r>
            <a:r>
              <a:rPr sz="1400" b="1" dirty="0" err="1">
                <a:solidFill>
                  <a:srgbClr val="FFFFFF"/>
                </a:solidFill>
              </a:rPr>
              <a:t>XGBoost</a:t>
            </a:r>
            <a:r>
              <a:rPr sz="1400" b="1" dirty="0">
                <a:solidFill>
                  <a:srgbClr val="FFFFFF"/>
                </a:solidFill>
              </a:rPr>
              <a:t> vs Runner-up)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825680"/>
            <a:ext cx="53949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C8D2E1"/>
                </a:solidFill>
              </a:rPr>
              <a:t>• H₀: both models make errors on the same examples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p &lt; 0.05 → difference is statistically significant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</a:t>
            </a:r>
            <a:r>
              <a:rPr sz="1200" dirty="0" err="1">
                <a:solidFill>
                  <a:srgbClr val="C8D2E1"/>
                </a:solidFill>
              </a:rPr>
              <a:t>XGBoost</a:t>
            </a:r>
            <a:r>
              <a:rPr sz="1200" dirty="0">
                <a:solidFill>
                  <a:srgbClr val="C8D2E1"/>
                </a:solidFill>
              </a:rPr>
              <a:t> makes meaningfully fewer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258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⑤ Subgroup / Fairness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941890"/>
            <a:ext cx="539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C8D2E1"/>
                </a:solidFill>
              </a:rPr>
              <a:t>• Young  (≤35) : F1 ≈ 0.80  — fewer diabetic cases in training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Middle (36-50): F1 ≈ 0.85  — most balanced subgroup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Senior (&gt;50) : F1 ≈ 0.78  — age diversity limited in dataset</a:t>
            </a:r>
          </a:p>
          <a:p>
            <a:pPr algn="l"/>
            <a:r>
              <a:rPr sz="1200" dirty="0">
                <a:solidFill>
                  <a:srgbClr val="C8D2E1"/>
                </a:solidFill>
              </a:rPr>
              <a:t>• Pregnancy groups: Low (1-3) best predicted; None (0) harder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851334"/>
            <a:ext cx="37669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⑥ </a:t>
            </a:r>
            <a:r>
              <a:rPr lang="tr-TR" sz="1400" b="1" dirty="0" err="1">
                <a:solidFill>
                  <a:schemeClr val="bg1"/>
                </a:solidFill>
              </a:rPr>
              <a:t>Permutation</a:t>
            </a:r>
            <a:r>
              <a:rPr lang="tr-TR" sz="1400" b="1" dirty="0">
                <a:solidFill>
                  <a:schemeClr val="bg1"/>
                </a:solidFill>
              </a:rPr>
              <a:t> </a:t>
            </a:r>
            <a:r>
              <a:rPr lang="tr-TR" sz="1400" b="1" dirty="0" err="1">
                <a:solidFill>
                  <a:schemeClr val="bg1"/>
                </a:solidFill>
              </a:rPr>
              <a:t>Importance</a:t>
            </a:r>
            <a:r>
              <a:rPr lang="tr-TR" sz="1400" b="1" dirty="0">
                <a:solidFill>
                  <a:schemeClr val="bg1"/>
                </a:solidFill>
              </a:rPr>
              <a:t> (Model-</a:t>
            </a:r>
            <a:r>
              <a:rPr lang="tr-TR" sz="1400" b="1" dirty="0" err="1">
                <a:solidFill>
                  <a:schemeClr val="bg1"/>
                </a:solidFill>
              </a:rPr>
              <a:t>Agnostic</a:t>
            </a:r>
            <a:r>
              <a:rPr lang="tr-TR" sz="1400" b="1" dirty="0">
                <a:solidFill>
                  <a:schemeClr val="bg1"/>
                </a:solidFill>
              </a:rPr>
              <a:t> )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52160" y="416185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C8D2E1"/>
                </a:solidFill>
              </a:rPr>
              <a:t>• Features ranked by F1 drop on test set — architecture independent
• Confirms SHAP ranking: Glucose &gt; BMI &gt; 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96364"/>
            <a:ext cx="30552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chemeClr val="bg1"/>
                </a:solidFill>
              </a:rPr>
              <a:t>⑦ Counterfactual Explanations (</a:t>
            </a:r>
            <a:r>
              <a:rPr sz="1400" b="1" dirty="0" err="1">
                <a:solidFill>
                  <a:schemeClr val="bg1"/>
                </a:solidFill>
              </a:rPr>
              <a:t>DiCE</a:t>
            </a:r>
            <a:r>
              <a:rPr sz="14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50345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C8D2E1"/>
                </a:solidFill>
              </a:rPr>
              <a:t>• 3 diverse counterfactuals for a True Positive diabetic patient
• Actionable: "Lower Glucose + BMI → prediction flips to Non-Diabetic"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D8E6"/>
                </a:solidFill>
              </a:rPr>
              <a:t>Summary · Limitations ·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Emre Tek &amp; Betül Özdemir  |  SENG 352  |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5394960" cy="4800600"/>
          </a:xfrm>
          <a:prstGeom prst="rect">
            <a:avLst/>
          </a:prstGeom>
          <a:solidFill>
            <a:srgbClr val="E8F8EE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E8B4C"/>
                </a:solidFill>
              </a:rPr>
              <a:t>What We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1206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/>
              <a:t>▸  Complete 10-section ML pipeline: data quality → SHAP + LIME</a:t>
            </a:r>
          </a:p>
          <a:p>
            <a:r>
              <a:rPr sz="1600" dirty="0"/>
              <a:t>▸  </a:t>
            </a:r>
            <a:r>
              <a:rPr sz="1600" dirty="0" err="1"/>
              <a:t>XGBoost</a:t>
            </a:r>
            <a:r>
              <a:rPr sz="1600" dirty="0"/>
              <a:t> (tuned): F1=0.840, AUC=0.955 — best of 7 classifiers</a:t>
            </a:r>
          </a:p>
          <a:p>
            <a:r>
              <a:rPr sz="1600" dirty="0"/>
              <a:t>▸  IQR outlier capping + class-stratified imputation + SMOTE</a:t>
            </a:r>
          </a:p>
          <a:p>
            <a:r>
              <a:rPr sz="1600" dirty="0"/>
              <a:t>▸  Statistical validation: seed sensitivity + McNemar's test</a:t>
            </a:r>
          </a:p>
          <a:p>
            <a:r>
              <a:rPr sz="1600" dirty="0"/>
              <a:t>▸  Fairness evaluation across age &amp; pregnancy subgroups</a:t>
            </a:r>
          </a:p>
          <a:p>
            <a:r>
              <a:rPr sz="1600" dirty="0"/>
              <a:t>▸  Model card documents intended use, preprocessing &amp; limitations</a:t>
            </a:r>
          </a:p>
          <a:p>
            <a:r>
              <a:rPr sz="1600" dirty="0"/>
              <a:t>▸  t-SNE projection + probability calibration (Platt scaling) added</a:t>
            </a:r>
          </a:p>
          <a:p>
            <a:r>
              <a:rPr sz="1600" dirty="0"/>
              <a:t>▸  Counterfactual explanations (</a:t>
            </a:r>
            <a:r>
              <a:rPr sz="1600" dirty="0" err="1"/>
              <a:t>DiCE</a:t>
            </a:r>
            <a:r>
              <a:rPr sz="1600" dirty="0"/>
              <a:t>) + permutation importance added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669280" cy="4800600"/>
          </a:xfrm>
          <a:prstGeom prst="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3949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 dirty="0">
                <a:solidFill>
                  <a:srgbClr val="333333"/>
                </a:solidFill>
              </a:rPr>
              <a:t>▸  </a:t>
            </a:r>
            <a:r>
              <a:rPr sz="1600" dirty="0"/>
              <a:t>Small dataset (768 samples) — may not </a:t>
            </a:r>
            <a:r>
              <a:rPr sz="1600" dirty="0" err="1"/>
              <a:t>generalise</a:t>
            </a:r>
            <a:r>
              <a:rPr sz="1600" dirty="0"/>
              <a:t> broadly</a:t>
            </a:r>
          </a:p>
          <a:p>
            <a:pPr>
              <a:spcBef>
                <a:spcPts val="400"/>
              </a:spcBef>
            </a:pPr>
            <a:r>
              <a:rPr sz="1600" dirty="0"/>
              <a:t>▸  Only Pima women aged ≥21 — limited demographic diversity</a:t>
            </a:r>
          </a:p>
          <a:p>
            <a:pPr>
              <a:spcBef>
                <a:spcPts val="400"/>
              </a:spcBef>
            </a:pPr>
            <a:r>
              <a:rPr sz="1600" dirty="0"/>
              <a:t>▸  49% missing Insulin values — imputation introduces bias risk</a:t>
            </a:r>
          </a:p>
          <a:p>
            <a:pPr>
              <a:spcBef>
                <a:spcPts val="400"/>
              </a:spcBef>
            </a:pPr>
            <a:r>
              <a:rPr sz="1600" dirty="0"/>
              <a:t>▸  No external validation on independent dataset</a:t>
            </a:r>
          </a:p>
          <a:p>
            <a:pPr>
              <a:spcBef>
                <a:spcPts val="400"/>
              </a:spcBef>
            </a:pPr>
            <a:r>
              <a:rPr sz="1600" dirty="0"/>
              <a:t>▸  Probability calibrated with Platt scaling (Brier score improved)</a:t>
            </a:r>
          </a:p>
          <a:p>
            <a:pPr>
              <a:spcBef>
                <a:spcPts val="400"/>
              </a:spcBef>
            </a:pPr>
            <a:r>
              <a:rPr sz="1600" dirty="0"/>
              <a:t>▸  Outliers capped with IQR </a:t>
            </a:r>
            <a:r>
              <a:rPr sz="1600" dirty="0" err="1"/>
              <a:t>Winsorizing</a:t>
            </a:r>
            <a:r>
              <a:rPr sz="1600" dirty="0"/>
              <a:t> (not removed)</a:t>
            </a:r>
          </a:p>
          <a:p>
            <a:pPr>
              <a:spcBef>
                <a:spcPts val="400"/>
              </a:spcBef>
            </a:pPr>
            <a:r>
              <a:rPr sz="1600" dirty="0"/>
              <a:t>▸  Subgroup fairness evaluated across age &amp; pregnancy 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172200"/>
            <a:ext cx="5788152" cy="45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1456</Words>
  <Application>Microsoft Macintosh PowerPoint</Application>
  <PresentationFormat>Özel</PresentationFormat>
  <Paragraphs>319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BETÜL ÖZDEMİR</cp:lastModifiedBy>
  <cp:revision>3</cp:revision>
  <dcterms:created xsi:type="dcterms:W3CDTF">2013-01-27T09:14:16Z</dcterms:created>
  <dcterms:modified xsi:type="dcterms:W3CDTF">2026-05-03T14:24:20Z</dcterms:modified>
  <cp:category/>
</cp:coreProperties>
</file>